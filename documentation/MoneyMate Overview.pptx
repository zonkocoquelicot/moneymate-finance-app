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41" d="100"/>
          <a:sy n="41" d="100"/>
        </p:scale>
        <p:origin x="2000" y="936"/>
      </p:cViewPr>
      <p:guideLst>
        <p:guide orient="horz" pos="35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4" name="Google Shape;9;p2"/>
          <p:cNvSpPr/>
          <p:nvPr/>
        </p:nvSpPr>
        <p:spPr>
          <a:xfrm>
            <a:off x="2189880" y="-3694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5" name="Google Shape;10;p2"/>
          <p:cNvPicPr/>
          <p:nvPr/>
        </p:nvPicPr>
        <p:blipFill>
          <a:blip r:embed="rId2"/>
          <a:srcRect l="1028" t="3591" r="38467" b="2908"/>
          <a:stretch/>
        </p:blipFill>
        <p:spPr>
          <a:xfrm>
            <a:off x="177480" y="167040"/>
            <a:ext cx="4394160" cy="4808880"/>
          </a:xfrm>
          <a:prstGeom prst="rect">
            <a:avLst/>
          </a:prstGeom>
          <a:noFill/>
          <a:ln w="0">
            <a:noFill/>
          </a:ln>
        </p:spPr>
      </p:pic>
      <p:sp>
        <p:nvSpPr>
          <p:cNvPr id="2" name="PlaceHolder 1"/>
          <p:cNvSpPr>
            <a:spLocks noGrp="1"/>
          </p:cNvSpPr>
          <p:nvPr>
            <p:ph type="title"/>
          </p:nvPr>
        </p:nvSpPr>
        <p:spPr>
          <a:xfrm>
            <a:off x="1569960" y="1711080"/>
            <a:ext cx="6003720" cy="1720800"/>
          </a:xfrm>
          <a:prstGeom prst="rect">
            <a:avLst/>
          </a:prstGeom>
          <a:noFill/>
          <a:ln w="0">
            <a:noFill/>
          </a:ln>
        </p:spPr>
        <p:txBody>
          <a:bodyPr lIns="91440" tIns="91440" rIns="91440" bIns="91440" anchor="b">
            <a:noAutofit/>
          </a:bodyPr>
          <a:lstStyle/>
          <a:p>
            <a:pPr indent="0">
              <a:buNone/>
            </a:pPr>
            <a:r>
              <a:rPr lang="fr-FR" sz="68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Google Shape;44;p11"/>
          <p:cNvSpPr/>
          <p:nvPr/>
        </p:nvSpPr>
        <p:spPr>
          <a:xfrm>
            <a:off x="3749400" y="-366336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5" name="Google Shape;45;p11"/>
          <p:cNvPicPr/>
          <p:nvPr/>
        </p:nvPicPr>
        <p:blipFill>
          <a:blip r:embed="rId2"/>
          <a:srcRect t="3591" r="38467" b="2908"/>
          <a:stretch/>
        </p:blipFill>
        <p:spPr>
          <a:xfrm>
            <a:off x="4497120" y="167040"/>
            <a:ext cx="4469040" cy="4808880"/>
          </a:xfrm>
          <a:prstGeom prst="rect">
            <a:avLst/>
          </a:prstGeom>
          <a:noFill/>
          <a:ln w="0">
            <a:noFill/>
          </a:ln>
        </p:spPr>
      </p:pic>
      <p:sp>
        <p:nvSpPr>
          <p:cNvPr id="6" name="PlaceHolder 1"/>
          <p:cNvSpPr>
            <a:spLocks noGrp="1"/>
          </p:cNvSpPr>
          <p:nvPr>
            <p:ph type="title"/>
          </p:nvPr>
        </p:nvSpPr>
        <p:spPr>
          <a:xfrm>
            <a:off x="1284120" y="1793520"/>
            <a:ext cx="6575760" cy="1044720"/>
          </a:xfrm>
          <a:prstGeom prst="rect">
            <a:avLst/>
          </a:prstGeom>
          <a:noFill/>
          <a:ln w="0">
            <a:noFill/>
          </a:ln>
        </p:spPr>
        <p:txBody>
          <a:bodyPr lIns="91440" tIns="91440" rIns="91440" bIns="91440" anchor="b">
            <a:noAutofit/>
          </a:bodyPr>
          <a:lstStyle/>
          <a:p>
            <a:pPr indent="0" algn="ctr">
              <a:lnSpc>
                <a:spcPct val="70000"/>
              </a:lnSpc>
              <a:buNone/>
            </a:pPr>
            <a:r>
              <a:rPr lang="fr-FR" sz="7200" b="1" u="none" strike="noStrike">
                <a:solidFill>
                  <a:schemeClr val="dk1"/>
                </a:solidFill>
                <a:effectLst/>
                <a:uFillTx/>
                <a:latin typeface="Bricolage Grotesque"/>
                <a:ea typeface="Bricolage Grotesque"/>
              </a:rPr>
              <a:t>xx%</a:t>
            </a:r>
            <a:endParaRPr lang="fr-FR" sz="72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7" name="Google Shape;50;p13"/>
          <p:cNvSpPr/>
          <p:nvPr/>
        </p:nvSpPr>
        <p:spPr>
          <a:xfrm>
            <a:off x="-1615680" y="421812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8" name="Google Shape;51;p13"/>
          <p:cNvPicPr/>
          <p:nvPr/>
        </p:nvPicPr>
        <p:blipFill>
          <a:blip r:embed="rId2"/>
          <a:srcRect l="1030" t="3591" r="72640" b="2908"/>
          <a:stretch/>
        </p:blipFill>
        <p:spPr>
          <a:xfrm>
            <a:off x="177480" y="167040"/>
            <a:ext cx="1911600" cy="4808880"/>
          </a:xfrm>
          <a:prstGeom prst="rect">
            <a:avLst/>
          </a:prstGeom>
          <a:noFill/>
          <a:ln w="0">
            <a:noFill/>
          </a:ln>
        </p:spPr>
      </p:pic>
      <p:sp>
        <p:nvSpPr>
          <p:cNvPr id="9" name="PlaceHolder 1"/>
          <p:cNvSpPr>
            <a:spLocks noGrp="1"/>
          </p:cNvSpPr>
          <p:nvPr>
            <p:ph type="title"/>
          </p:nvPr>
        </p:nvSpPr>
        <p:spPr>
          <a:xfrm>
            <a:off x="228600" y="2017440"/>
            <a:ext cx="3748320" cy="110844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10" name="PlaceHolder 2"/>
          <p:cNvSpPr>
            <a:spLocks noGrp="1"/>
          </p:cNvSpPr>
          <p:nvPr>
            <p:ph type="title"/>
          </p:nvPr>
        </p:nvSpPr>
        <p:spPr>
          <a:xfrm>
            <a:off x="4599720" y="38952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1" name="PlaceHolder 3"/>
          <p:cNvSpPr>
            <a:spLocks noGrp="1"/>
          </p:cNvSpPr>
          <p:nvPr>
            <p:ph type="title"/>
          </p:nvPr>
        </p:nvSpPr>
        <p:spPr>
          <a:xfrm>
            <a:off x="4599720" y="96156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2" name="PlaceHolder 4"/>
          <p:cNvSpPr>
            <a:spLocks noGrp="1"/>
          </p:cNvSpPr>
          <p:nvPr>
            <p:ph type="title"/>
          </p:nvPr>
        </p:nvSpPr>
        <p:spPr>
          <a:xfrm>
            <a:off x="4599720" y="153360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3" name="PlaceHolder 5"/>
          <p:cNvSpPr>
            <a:spLocks noGrp="1"/>
          </p:cNvSpPr>
          <p:nvPr>
            <p:ph type="title"/>
          </p:nvPr>
        </p:nvSpPr>
        <p:spPr>
          <a:xfrm>
            <a:off x="4599720" y="21056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4" name="PlaceHolder 6"/>
          <p:cNvSpPr>
            <a:spLocks noGrp="1"/>
          </p:cNvSpPr>
          <p:nvPr>
            <p:ph type="title"/>
          </p:nvPr>
        </p:nvSpPr>
        <p:spPr>
          <a:xfrm>
            <a:off x="4599720" y="264132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5" name="PlaceHolder 7"/>
          <p:cNvSpPr>
            <a:spLocks noGrp="1"/>
          </p:cNvSpPr>
          <p:nvPr>
            <p:ph type="title"/>
          </p:nvPr>
        </p:nvSpPr>
        <p:spPr>
          <a:xfrm>
            <a:off x="4599720" y="321336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6" name="PlaceHolder 8"/>
          <p:cNvSpPr>
            <a:spLocks noGrp="1"/>
          </p:cNvSpPr>
          <p:nvPr>
            <p:ph type="title"/>
          </p:nvPr>
        </p:nvSpPr>
        <p:spPr>
          <a:xfrm>
            <a:off x="4599720" y="378540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
        <p:nvSpPr>
          <p:cNvPr id="17" name="PlaceHolder 9"/>
          <p:cNvSpPr>
            <a:spLocks noGrp="1"/>
          </p:cNvSpPr>
          <p:nvPr>
            <p:ph type="title"/>
          </p:nvPr>
        </p:nvSpPr>
        <p:spPr>
          <a:xfrm>
            <a:off x="4599720" y="43574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Bricolage Grotesque"/>
                <a:ea typeface="Bricolage Grotesque"/>
              </a:rPr>
              <a:t>xx%</a:t>
            </a:r>
            <a:endParaRPr lang="fr-FR" sz="21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18" name="Google Shape;70;p14"/>
          <p:cNvPicPr/>
          <p:nvPr/>
        </p:nvPicPr>
        <p:blipFill>
          <a:blip r:embed="rId2"/>
          <a:srcRect l="1028" t="3591" r="61317" b="2908"/>
          <a:stretch/>
        </p:blipFill>
        <p:spPr>
          <a:xfrm>
            <a:off x="177480" y="167040"/>
            <a:ext cx="2734200" cy="4808880"/>
          </a:xfrm>
          <a:prstGeom prst="rect">
            <a:avLst/>
          </a:prstGeom>
          <a:noFill/>
          <a:ln w="0">
            <a:noFill/>
          </a:ln>
        </p:spPr>
      </p:pic>
      <p:sp>
        <p:nvSpPr>
          <p:cNvPr id="19" name="PlaceHolder 1"/>
          <p:cNvSpPr>
            <a:spLocks noGrp="1"/>
          </p:cNvSpPr>
          <p:nvPr>
            <p:ph type="title"/>
          </p:nvPr>
        </p:nvSpPr>
        <p:spPr>
          <a:xfrm>
            <a:off x="597600" y="1332000"/>
            <a:ext cx="3589920" cy="2479320"/>
          </a:xfrm>
          <a:prstGeom prst="rect">
            <a:avLst/>
          </a:prstGeom>
          <a:noFill/>
          <a:ln w="0">
            <a:noFill/>
          </a:ln>
        </p:spPr>
        <p:txBody>
          <a:bodyPr lIns="91440" tIns="91440" rIns="91440" bIns="91440" anchor="t">
            <a:noAutofit/>
          </a:bodyPr>
          <a:lstStyle/>
          <a:p>
            <a:pPr indent="0">
              <a:buNone/>
            </a:pPr>
            <a:r>
              <a:rPr lang="fr-FR" sz="3100" b="0" u="none" strike="noStrike">
                <a:solidFill>
                  <a:schemeClr val="dk1"/>
                </a:solidFill>
                <a:effectLst/>
                <a:uFillTx/>
                <a:latin typeface="Arial"/>
              </a:rPr>
              <a:t>Click to edit the title text format</a:t>
            </a:r>
          </a:p>
        </p:txBody>
      </p:sp>
      <p:sp>
        <p:nvSpPr>
          <p:cNvPr id="20" name="Google Shape;73;p14"/>
          <p:cNvSpPr/>
          <p:nvPr/>
        </p:nvSpPr>
        <p:spPr>
          <a:xfrm>
            <a:off x="6144840" y="-3550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627440" y="230040"/>
            <a:ext cx="3905640" cy="7585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3" name="PlaceHolder 2"/>
          <p:cNvSpPr>
            <a:spLocks noGrp="1"/>
          </p:cNvSpPr>
          <p:nvPr>
            <p:ph type="body"/>
          </p:nvPr>
        </p:nvSpPr>
        <p:spPr>
          <a:xfrm>
            <a:off x="0" y="0"/>
            <a:ext cx="42944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24" name="Google Shape;79;p16"/>
          <p:cNvPicPr/>
          <p:nvPr/>
        </p:nvPicPr>
        <p:blipFill>
          <a:blip r:embed="rId2"/>
          <a:srcRect l="1030" t="3591" r="72640" b="2908"/>
          <a:stretch/>
        </p:blipFill>
        <p:spPr>
          <a:xfrm>
            <a:off x="7058160" y="167040"/>
            <a:ext cx="1911600" cy="4808880"/>
          </a:xfrm>
          <a:prstGeom prst="rect">
            <a:avLst/>
          </a:prstGeom>
          <a:noFill/>
          <a:ln w="0">
            <a:noFill/>
          </a:ln>
        </p:spPr>
      </p:pic>
      <p:sp>
        <p:nvSpPr>
          <p:cNvPr id="25" name="PlaceHolder 1"/>
          <p:cNvSpPr>
            <a:spLocks noGrp="1"/>
          </p:cNvSpPr>
          <p:nvPr>
            <p:ph type="title"/>
          </p:nvPr>
        </p:nvSpPr>
        <p:spPr>
          <a:xfrm>
            <a:off x="4746240" y="228600"/>
            <a:ext cx="41688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26" name="Google Shape;88;p17"/>
          <p:cNvPicPr/>
          <p:nvPr/>
        </p:nvPicPr>
        <p:blipFill>
          <a:blip r:embed="rId2"/>
          <a:srcRect l="1030" t="3591" r="77067" b="2908"/>
          <a:stretch/>
        </p:blipFill>
        <p:spPr>
          <a:xfrm>
            <a:off x="173880" y="167040"/>
            <a:ext cx="1590120" cy="4808880"/>
          </a:xfrm>
          <a:prstGeom prst="rect">
            <a:avLst/>
          </a:prstGeom>
          <a:noFill/>
          <a:ln w="0">
            <a:noFill/>
          </a:ln>
        </p:spPr>
      </p:pic>
      <p:sp>
        <p:nvSpPr>
          <p:cNvPr id="27" name="PlaceHolder 1"/>
          <p:cNvSpPr>
            <a:spLocks noGrp="1"/>
          </p:cNvSpPr>
          <p:nvPr>
            <p:ph type="title"/>
          </p:nvPr>
        </p:nvSpPr>
        <p:spPr>
          <a:xfrm>
            <a:off x="228600" y="228600"/>
            <a:ext cx="447588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28" name="Google Shape;99;p18"/>
          <p:cNvSpPr/>
          <p:nvPr/>
        </p:nvSpPr>
        <p:spPr>
          <a:xfrm>
            <a:off x="-3257640" y="36442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29" name="Google Shape;100;p18"/>
          <p:cNvPicPr/>
          <p:nvPr/>
        </p:nvPicPr>
        <p:blipFill>
          <a:blip r:embed="rId2"/>
          <a:srcRect l="1030" t="3591" r="92862" b="2908"/>
          <a:stretch/>
        </p:blipFill>
        <p:spPr>
          <a:xfrm>
            <a:off x="173880" y="167040"/>
            <a:ext cx="442440" cy="4808880"/>
          </a:xfrm>
          <a:prstGeom prst="rect">
            <a:avLst/>
          </a:prstGeom>
          <a:noFill/>
          <a:ln w="0">
            <a:noFill/>
          </a:ln>
        </p:spPr>
      </p:pic>
      <p:sp>
        <p:nvSpPr>
          <p:cNvPr id="30" name="PlaceHolder 1"/>
          <p:cNvSpPr>
            <a:spLocks noGrp="1"/>
          </p:cNvSpPr>
          <p:nvPr>
            <p:ph type="title"/>
          </p:nvPr>
        </p:nvSpPr>
        <p:spPr>
          <a:xfrm>
            <a:off x="228600" y="228600"/>
            <a:ext cx="325692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1" name="Google Shape;103;p19"/>
          <p:cNvSpPr/>
          <p:nvPr/>
        </p:nvSpPr>
        <p:spPr>
          <a:xfrm>
            <a:off x="4689000" y="388440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2" name="Google Shape;104;p19"/>
          <p:cNvPicPr/>
          <p:nvPr/>
        </p:nvPicPr>
        <p:blipFill>
          <a:blip r:embed="rId2"/>
          <a:srcRect l="16965" t="3591" r="30236" b="2908"/>
          <a:stretch/>
        </p:blipFill>
        <p:spPr>
          <a:xfrm>
            <a:off x="5135400" y="167040"/>
            <a:ext cx="3834360" cy="4808880"/>
          </a:xfrm>
          <a:prstGeom prst="rect">
            <a:avLst/>
          </a:prstGeom>
          <a:noFill/>
          <a:ln w="0">
            <a:noFill/>
          </a:ln>
        </p:spPr>
      </p:pic>
      <p:sp>
        <p:nvSpPr>
          <p:cNvPr id="33" name="PlaceHolder 1"/>
          <p:cNvSpPr>
            <a:spLocks noGrp="1"/>
          </p:cNvSpPr>
          <p:nvPr>
            <p:ph type="title"/>
          </p:nvPr>
        </p:nvSpPr>
        <p:spPr>
          <a:xfrm>
            <a:off x="5184720" y="454320"/>
            <a:ext cx="3713760" cy="1729080"/>
          </a:xfrm>
          <a:prstGeom prst="rect">
            <a:avLst/>
          </a:prstGeom>
          <a:noFill/>
          <a:ln w="0">
            <a:noFill/>
          </a:ln>
        </p:spPr>
        <p:txBody>
          <a:bodyPr lIns="91440" tIns="91440" rIns="91440" bIns="91440" anchor="b">
            <a:noAutofit/>
          </a:bodyPr>
          <a:lstStyle/>
          <a:p>
            <a:pPr indent="0">
              <a:buNone/>
            </a:pPr>
            <a:r>
              <a:rPr lang="fr-FR" sz="7300" b="0" u="none" strike="noStrike">
                <a:solidFill>
                  <a:schemeClr val="dk1"/>
                </a:solidFill>
                <a:effectLst/>
                <a:uFillTx/>
                <a:latin typeface="Arial"/>
              </a:rPr>
              <a:t>Click to edit the title text format</a:t>
            </a:r>
          </a:p>
        </p:txBody>
      </p:sp>
      <p:sp>
        <p:nvSpPr>
          <p:cNvPr id="34" name="Google Shape;107;p19"/>
          <p:cNvSpPr/>
          <p:nvPr/>
        </p:nvSpPr>
        <p:spPr>
          <a:xfrm>
            <a:off x="239040" y="389952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Anaheim"/>
                <a:ea typeface="Anaheim"/>
              </a:rPr>
              <a:t>CREDITS:</a:t>
            </a:r>
            <a:r>
              <a:rPr lang="en" sz="1000" b="0" u="none" strike="noStrike">
                <a:solidFill>
                  <a:schemeClr val="dk1"/>
                </a:solidFill>
                <a:effectLst/>
                <a:uFillTx/>
                <a:latin typeface="Anaheim"/>
                <a:ea typeface="Anaheim"/>
              </a:rPr>
              <a:t> This presentation template was created by </a:t>
            </a:r>
            <a:r>
              <a:rPr lang="en" sz="1000" b="1" u="sng" strike="noStrike">
                <a:solidFill>
                  <a:schemeClr val="hlink"/>
                </a:solidFill>
                <a:effectLst/>
                <a:uFillTx/>
                <a:latin typeface="Anaheim"/>
                <a:ea typeface="Anaheim"/>
                <a:hlinkClick r:id="rId3"/>
              </a:rPr>
              <a:t>Slidesgo</a:t>
            </a:r>
            <a:r>
              <a:rPr lang="en" sz="1000" b="0" u="none" strike="noStrike">
                <a:solidFill>
                  <a:schemeClr val="dk1"/>
                </a:solidFill>
                <a:effectLst/>
                <a:uFillTx/>
                <a:latin typeface="Anaheim"/>
                <a:ea typeface="Anaheim"/>
              </a:rPr>
              <a:t>, and includes icons, infographics &amp; images by </a:t>
            </a:r>
            <a:r>
              <a:rPr lang="en" sz="1000" b="1" u="sng" strike="noStrike">
                <a:solidFill>
                  <a:schemeClr val="dk1"/>
                </a:solidFill>
                <a:effectLst/>
                <a:uFillTx/>
                <a:latin typeface="Anaheim"/>
                <a:ea typeface="Anaheim"/>
                <a:hlinkClick r:id="rId4"/>
              </a:rPr>
              <a:t>Freepik</a:t>
            </a:r>
            <a:r>
              <a:rPr lang="en" sz="1000" b="0" u="sng" strike="noStrike">
                <a:solidFill>
                  <a:schemeClr val="dk1"/>
                </a:solidFill>
                <a:effectLst/>
                <a:uFillTx/>
                <a:latin typeface="Anaheim"/>
                <a:ea typeface="Anaheim"/>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5" name="Google Shape;109;p20"/>
          <p:cNvSpPr/>
          <p:nvPr/>
        </p:nvSpPr>
        <p:spPr>
          <a:xfrm>
            <a:off x="2189880" y="-36946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6" name="Google Shape;110;p20"/>
          <p:cNvPicPr/>
          <p:nvPr/>
        </p:nvPicPr>
        <p:blipFill>
          <a:blip r:embed="rId2"/>
          <a:srcRect l="1028" t="3591" r="38467" b="2908"/>
          <a:stretch/>
        </p:blipFill>
        <p:spPr>
          <a:xfrm>
            <a:off x="177480" y="167040"/>
            <a:ext cx="4394160" cy="48088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7" name="Google Shape;14;p3"/>
          <p:cNvSpPr/>
          <p:nvPr/>
        </p:nvSpPr>
        <p:spPr>
          <a:xfrm>
            <a:off x="2189880" y="408276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38" name="Google Shape;15;p3"/>
          <p:cNvPicPr/>
          <p:nvPr/>
        </p:nvPicPr>
        <p:blipFill>
          <a:blip r:embed="rId2"/>
          <a:srcRect l="10335" t="3591" r="38467" b="2908"/>
          <a:stretch/>
        </p:blipFill>
        <p:spPr>
          <a:xfrm>
            <a:off x="5248080" y="167040"/>
            <a:ext cx="3718440" cy="4808880"/>
          </a:xfrm>
          <a:prstGeom prst="rect">
            <a:avLst/>
          </a:prstGeom>
          <a:noFill/>
          <a:ln w="0">
            <a:noFill/>
          </a:ln>
        </p:spPr>
      </p:pic>
      <p:sp>
        <p:nvSpPr>
          <p:cNvPr id="39" name="PlaceHolder 1"/>
          <p:cNvSpPr>
            <a:spLocks noGrp="1"/>
          </p:cNvSpPr>
          <p:nvPr>
            <p:ph type="title"/>
          </p:nvPr>
        </p:nvSpPr>
        <p:spPr>
          <a:xfrm>
            <a:off x="507600" y="1628640"/>
            <a:ext cx="5183640" cy="188604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40" name="PlaceHolder 2"/>
          <p:cNvSpPr>
            <a:spLocks noGrp="1"/>
          </p:cNvSpPr>
          <p:nvPr>
            <p:ph type="title"/>
          </p:nvPr>
        </p:nvSpPr>
        <p:spPr>
          <a:xfrm>
            <a:off x="6340320" y="1919880"/>
            <a:ext cx="1335960" cy="1303560"/>
          </a:xfrm>
          <a:prstGeom prst="rect">
            <a:avLst/>
          </a:prstGeom>
          <a:noFill/>
          <a:ln w="0">
            <a:noFill/>
          </a:ln>
        </p:spPr>
        <p:txBody>
          <a:bodyPr lIns="91440" tIns="91440" rIns="91440" bIns="91440" anchor="b">
            <a:noAutofit/>
          </a:bodyPr>
          <a:lstStyle/>
          <a:p>
            <a:pPr indent="0">
              <a:lnSpc>
                <a:spcPct val="70000"/>
              </a:lnSpc>
              <a:buNone/>
            </a:pPr>
            <a:r>
              <a:rPr lang="fr-FR" sz="8000" b="1" u="none" strike="noStrike">
                <a:solidFill>
                  <a:schemeClr val="dk1"/>
                </a:solidFill>
                <a:effectLst/>
                <a:uFillTx/>
                <a:latin typeface="Bricolage Grotesque"/>
                <a:ea typeface="Bricolage Grotesque"/>
              </a:rPr>
              <a:t>xx%</a:t>
            </a:r>
            <a:endParaRPr lang="fr-FR" sz="8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sp>
        <p:nvSpPr>
          <p:cNvPr id="41" name="Google Shape;112;p21"/>
          <p:cNvSpPr/>
          <p:nvPr/>
        </p:nvSpPr>
        <p:spPr>
          <a:xfrm>
            <a:off x="2189880" y="343728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pic>
        <p:nvPicPr>
          <p:cNvPr id="42" name="Google Shape;113;p21"/>
          <p:cNvPicPr/>
          <p:nvPr/>
        </p:nvPicPr>
        <p:blipFill>
          <a:blip r:embed="rId2"/>
          <a:srcRect l="10335" t="3591" r="38467" b="2908"/>
          <a:stretch/>
        </p:blipFill>
        <p:spPr>
          <a:xfrm>
            <a:off x="5248080" y="167040"/>
            <a:ext cx="3718440" cy="480888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4" name="PlaceHolder 2"/>
          <p:cNvSpPr>
            <a:spLocks noGrp="1"/>
          </p:cNvSpPr>
          <p:nvPr>
            <p:ph type="body"/>
          </p:nvPr>
        </p:nvSpPr>
        <p:spPr>
          <a:xfrm>
            <a:off x="228600" y="999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45" name="Google Shape;22;p5"/>
          <p:cNvPicPr/>
          <p:nvPr/>
        </p:nvPicPr>
        <p:blipFill>
          <a:blip r:embed="rId2"/>
          <a:srcRect l="1030" t="3591" r="72640" b="2908"/>
          <a:stretch/>
        </p:blipFill>
        <p:spPr>
          <a:xfrm>
            <a:off x="173880" y="167040"/>
            <a:ext cx="1911600" cy="4808880"/>
          </a:xfrm>
          <a:prstGeom prst="rect">
            <a:avLst/>
          </a:prstGeom>
          <a:noFill/>
          <a:ln w="0">
            <a:noFill/>
          </a:ln>
        </p:spPr>
      </p:pic>
      <p:sp>
        <p:nvSpPr>
          <p:cNvPr id="46" name="PlaceHolder 1"/>
          <p:cNvSpPr>
            <a:spLocks noGrp="1"/>
          </p:cNvSpPr>
          <p:nvPr>
            <p:ph type="title"/>
          </p:nvPr>
        </p:nvSpPr>
        <p:spPr>
          <a:xfrm>
            <a:off x="228600" y="226440"/>
            <a:ext cx="4557960" cy="6584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47" name="Google Shape;29;p6"/>
          <p:cNvPicPr/>
          <p:nvPr/>
        </p:nvPicPr>
        <p:blipFill>
          <a:blip r:embed="rId2"/>
          <a:srcRect l="1030" t="3591" r="92862" b="2908"/>
          <a:stretch/>
        </p:blipFill>
        <p:spPr>
          <a:xfrm>
            <a:off x="8523720" y="167040"/>
            <a:ext cx="442440" cy="4808880"/>
          </a:xfrm>
          <a:prstGeom prst="rect">
            <a:avLst/>
          </a:prstGeom>
          <a:noFill/>
          <a:ln w="0">
            <a:noFill/>
          </a:ln>
        </p:spPr>
      </p:pic>
      <p:sp>
        <p:nvSpPr>
          <p:cNvPr id="48" name="Google Shape;30;p6"/>
          <p:cNvSpPr/>
          <p:nvPr/>
        </p:nvSpPr>
        <p:spPr>
          <a:xfrm>
            <a:off x="-2153520" y="-3996720"/>
            <a:ext cx="4763880" cy="4763880"/>
          </a:xfrm>
          <a:prstGeom prst="ellipse">
            <a:avLst/>
          </a:prstGeom>
          <a:noFill/>
          <a:ln w="9525">
            <a:solidFill>
              <a:srgbClr val="FFF5EF"/>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PlaceHolder 1"/>
          <p:cNvSpPr>
            <a:spLocks noGrp="1"/>
          </p:cNvSpPr>
          <p:nvPr>
            <p:ph type="title"/>
          </p:nvPr>
        </p:nvSpPr>
        <p:spPr>
          <a:xfrm>
            <a:off x="5329800" y="228600"/>
            <a:ext cx="358488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47635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35520" y="1441800"/>
            <a:ext cx="4872600" cy="11869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4" name="PlaceHolder 2"/>
          <p:cNvSpPr>
            <a:spLocks noGrp="1"/>
          </p:cNvSpPr>
          <p:nvPr>
            <p:ph type="title"/>
          </p:nvPr>
        </p:nvSpPr>
        <p:spPr>
          <a:xfrm>
            <a:off x="720000" y="4014360"/>
            <a:ext cx="7703640" cy="572400"/>
          </a:xfrm>
          <a:prstGeom prst="rect">
            <a:avLst/>
          </a:prstGeom>
          <a:solidFill>
            <a:schemeClr val="lt2"/>
          </a:solid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5" name="Google Shape;119;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7" name="Google Shape;122;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8"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9"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subTitle"/>
          </p:nvPr>
        </p:nvSpPr>
        <p:spPr>
          <a:xfrm>
            <a:off x="466560" y="2057400"/>
            <a:ext cx="1371240" cy="1028520"/>
          </a:xfrm>
          <a:prstGeom prst="rect">
            <a:avLst/>
          </a:prstGeom>
          <a:noFill/>
          <a:ln w="0">
            <a:noFill/>
          </a:ln>
        </p:spPr>
        <p:txBody>
          <a:bodyPr lIns="91440" tIns="91440" rIns="91440" bIns="91440" anchor="t">
            <a:normAutofit/>
          </a:bodyPr>
          <a:lstStyle/>
          <a:p>
            <a:pPr>
              <a:lnSpc>
                <a:spcPct val="100000"/>
              </a:lnSpc>
              <a:tabLst>
                <a:tab pos="0" algn="l"/>
              </a:tabLst>
            </a:pPr>
            <a:r>
              <a:rPr lang="en-US" sz="1400" b="0" u="none" strike="noStrike">
                <a:solidFill>
                  <a:schemeClr val="dk1"/>
                </a:solidFill>
                <a:effectLst/>
                <a:uFillTx/>
                <a:latin typeface="Anaheim"/>
                <a:ea typeface="Anaheim"/>
              </a:rPr>
              <a:t>Personal Finance Tracker</a:t>
            </a:r>
            <a:endParaRPr lang="en-US" sz="1400" b="0" u="none" strike="noStrike">
              <a:solidFill>
                <a:srgbClr val="FFFFFF"/>
              </a:solidFill>
              <a:effectLst/>
              <a:uFillTx/>
              <a:latin typeface="OpenSymbol"/>
            </a:endParaRPr>
          </a:p>
        </p:txBody>
      </p:sp>
      <p:sp>
        <p:nvSpPr>
          <p:cNvPr id="61" name="PlaceHolder 2"/>
          <p:cNvSpPr>
            <a:spLocks noGrp="1"/>
          </p:cNvSpPr>
          <p:nvPr>
            <p:ph type="subTitle"/>
          </p:nvPr>
        </p:nvSpPr>
        <p:spPr>
          <a:xfrm>
            <a:off x="228600" y="181080"/>
            <a:ext cx="1076040" cy="361440"/>
          </a:xfrm>
          <a:prstGeom prst="rect">
            <a:avLst/>
          </a:prstGeom>
          <a:noFill/>
          <a:ln w="0">
            <a:noFill/>
          </a:ln>
        </p:spPr>
        <p:txBody>
          <a:bodyPr lIns="91440" tIns="91440" rIns="91440" bIns="91440" anchor="t">
            <a:normAutofit fontScale="77500" lnSpcReduction="20000"/>
          </a:bodyPr>
          <a:lstStyle/>
          <a:p>
            <a:pPr algn="ctr">
              <a:lnSpc>
                <a:spcPct val="100000"/>
              </a:lnSpc>
              <a:tabLst>
                <a:tab pos="0" algn="l"/>
              </a:tabLst>
            </a:pPr>
            <a:r>
              <a:rPr lang="en-US" sz="1000" b="0" u="none" strike="noStrike">
                <a:solidFill>
                  <a:schemeClr val="dk1"/>
                </a:solidFill>
                <a:effectLst/>
                <a:uFillTx/>
                <a:latin typeface="Anaheim"/>
                <a:ea typeface="Anaheim"/>
              </a:rPr>
              <a:t>Personal Finance Tracker</a:t>
            </a:r>
            <a:endParaRPr lang="en-US" sz="1000" b="0" u="none" strike="noStrike">
              <a:solidFill>
                <a:srgbClr val="FFFFFF"/>
              </a:solidFill>
              <a:effectLst/>
              <a:uFillTx/>
              <a:latin typeface="OpenSymbol"/>
            </a:endParaRPr>
          </a:p>
        </p:txBody>
      </p:sp>
      <p:sp>
        <p:nvSpPr>
          <p:cNvPr id="62" name="PlaceHolder 3"/>
          <p:cNvSpPr>
            <a:spLocks noGrp="1"/>
          </p:cNvSpPr>
          <p:nvPr>
            <p:ph type="subTitle"/>
          </p:nvPr>
        </p:nvSpPr>
        <p:spPr>
          <a:xfrm>
            <a:off x="7800840" y="2390760"/>
            <a:ext cx="875880" cy="361440"/>
          </a:xfrm>
          <a:prstGeom prst="rect">
            <a:avLst/>
          </a:prstGeom>
          <a:noFill/>
          <a:ln w="0">
            <a:noFill/>
          </a:ln>
        </p:spPr>
        <p:txBody>
          <a:bodyPr lIns="91440" tIns="91440" rIns="91440" bIns="91440" anchor="t">
            <a:normAutofit fontScale="77500" lnSpcReduction="20000"/>
          </a:bodyPr>
          <a:lstStyle/>
          <a:p>
            <a:pPr algn="ctr">
              <a:lnSpc>
                <a:spcPct val="100000"/>
              </a:lnSpc>
              <a:tabLst>
                <a:tab pos="0" algn="l"/>
              </a:tabLst>
            </a:pPr>
            <a:r>
              <a:rPr lang="en-US" sz="1000" b="0" u="none" strike="noStrike">
                <a:solidFill>
                  <a:schemeClr val="dk1"/>
                </a:solidFill>
                <a:effectLst/>
                <a:uFillTx/>
                <a:latin typeface="Anaheim"/>
                <a:ea typeface="Anaheim"/>
              </a:rPr>
              <a:t>Personal Finance Tracker</a:t>
            </a:r>
            <a:endParaRPr lang="en-US" sz="1000" b="0" u="none" strike="noStrike">
              <a:solidFill>
                <a:srgbClr val="FFFFFF"/>
              </a:solidFill>
              <a:effectLst/>
              <a:uFillTx/>
              <a:latin typeface="OpenSymbol"/>
            </a:endParaRPr>
          </a:p>
        </p:txBody>
      </p:sp>
      <p:sp>
        <p:nvSpPr>
          <p:cNvPr id="63" name="PlaceHolder 4"/>
          <p:cNvSpPr>
            <a:spLocks noGrp="1"/>
          </p:cNvSpPr>
          <p:nvPr>
            <p:ph type="title"/>
          </p:nvPr>
        </p:nvSpPr>
        <p:spPr>
          <a:xfrm>
            <a:off x="1571760" y="1714680"/>
            <a:ext cx="6000480" cy="1723680"/>
          </a:xfrm>
          <a:prstGeom prst="rect">
            <a:avLst/>
          </a:prstGeom>
          <a:noFill/>
          <a:ln w="0">
            <a:noFill/>
          </a:ln>
        </p:spPr>
        <p:txBody>
          <a:bodyPr lIns="91440" tIns="91440" rIns="91440" bIns="91440" anchor="b">
            <a:normAutofit/>
          </a:bodyPr>
          <a:lstStyle/>
          <a:p>
            <a:pPr indent="0" algn="ctr">
              <a:lnSpc>
                <a:spcPct val="70000"/>
              </a:lnSpc>
              <a:buNone/>
              <a:tabLst>
                <a:tab pos="0" algn="l"/>
              </a:tabLst>
            </a:pPr>
            <a:r>
              <a:rPr lang="en-US" sz="6800" b="0" u="none" strike="noStrike">
                <a:solidFill>
                  <a:schemeClr val="dk1"/>
                </a:solidFill>
                <a:effectLst/>
                <a:uFillTx/>
                <a:latin typeface="Bricolage Grotesque Medium"/>
                <a:ea typeface="Geist"/>
              </a:rPr>
              <a:t>MoneyMate</a:t>
            </a:r>
            <a:r>
              <a:rPr lang="en-US" sz="6800" b="1" u="none" strike="noStrike">
                <a:solidFill>
                  <a:schemeClr val="dk1"/>
                </a:solidFill>
                <a:effectLst/>
                <a:uFillTx/>
                <a:latin typeface="Bricolage Grotesque"/>
                <a:ea typeface="Geist"/>
              </a:rPr>
              <a:t> Overview</a:t>
            </a:r>
            <a:endParaRPr lang="fr-FR" sz="6800" b="0" u="none" strike="noStrike">
              <a:solidFill>
                <a:schemeClr val="dk1"/>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65"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Introduction</a:t>
            </a:r>
            <a:endParaRPr lang="fr-FR" sz="2600" b="0" u="none" strike="noStrike">
              <a:solidFill>
                <a:schemeClr val="dk1"/>
              </a:solidFill>
              <a:effectLst/>
              <a:uFillTx/>
              <a:latin typeface="Arial"/>
            </a:endParaRPr>
          </a:p>
        </p:txBody>
      </p:sp>
      <p:sp>
        <p:nvSpPr>
          <p:cNvPr id="66" name="PlaceHolder 2"/>
          <p:cNvSpPr>
            <a:spLocks noGrp="1"/>
          </p:cNvSpPr>
          <p:nvPr>
            <p:ph type="subTitle"/>
          </p:nvPr>
        </p:nvSpPr>
        <p:spPr>
          <a:xfrm>
            <a:off x="4619520" y="3209760"/>
            <a:ext cx="4295520" cy="167616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a:solidFill>
                  <a:schemeClr val="dk1"/>
                </a:solidFill>
                <a:effectLst/>
                <a:uFillTx/>
                <a:latin typeface="Anaheim"/>
                <a:ea typeface="Anaheim"/>
              </a:rPr>
              <a:t>MoneyMate is an open-source, locally hosted web application designed to empower users with comprehensive financial tracking. It offers real-time monitoring of income, expenses, budgets, and savings goals wrapped in an intuitive visual analytics dashboard. The system focuses on privacy, usability, and accessibility, requiring no financial expertise.</a:t>
            </a:r>
            <a:endParaRPr lang="en-US" sz="1200" b="0" u="none" strike="noStrike">
              <a:solidFill>
                <a:srgbClr val="FFFFFF"/>
              </a:solidFill>
              <a:effectLst/>
              <a:uFillTx/>
              <a:latin typeface="OpenSymbol"/>
            </a:endParaRPr>
          </a:p>
        </p:txBody>
      </p:sp>
      <p:pic>
        <p:nvPicPr>
          <p:cNvPr id="67"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subTitle"/>
          </p:nvPr>
        </p:nvSpPr>
        <p:spPr>
          <a:xfrm>
            <a:off x="4695840" y="1752480"/>
            <a:ext cx="3847680" cy="1638360"/>
          </a:xfrm>
          <a:prstGeom prst="rect">
            <a:avLst/>
          </a:prstGeom>
          <a:noFill/>
          <a:ln w="0">
            <a:noFill/>
          </a:ln>
        </p:spPr>
        <p:txBody>
          <a:bodyPr lIns="91440" tIns="91440" rIns="91440" bIns="91440" anchor="t">
            <a:spAutoFit/>
          </a:bodyPr>
          <a:lstStyle/>
          <a:p>
            <a:pPr algn="ctr"/>
            <a:endParaRPr lang="en-US" sz="1200" b="0" u="none" strike="noStrike" dirty="0">
              <a:solidFill>
                <a:schemeClr val="dk1"/>
              </a:solidFill>
              <a:effectLst/>
              <a:uFillTx/>
              <a:latin typeface="Anaheim"/>
              <a:ea typeface="Anaheim"/>
            </a:endParaRPr>
          </a:p>
        </p:txBody>
      </p:sp>
      <p:sp>
        <p:nvSpPr>
          <p:cNvPr id="69"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dirty="0">
                <a:solidFill>
                  <a:schemeClr val="dk1"/>
                </a:solidFill>
                <a:effectLst/>
                <a:uFillTx/>
                <a:latin typeface="Bricolage Grotesque Medium"/>
                <a:ea typeface="Bricolage Grotesque Medium"/>
              </a:rPr>
              <a:t>Introduction to the</a:t>
            </a:r>
            <a:endParaRPr lang="fr-FR" sz="3100" b="0" u="none" strike="noStrike" dirty="0">
              <a:solidFill>
                <a:schemeClr val="dk1"/>
              </a:solidFill>
              <a:effectLst/>
              <a:uFillTx/>
              <a:latin typeface="Arial"/>
            </a:endParaRPr>
          </a:p>
          <a:p>
            <a:pPr indent="0">
              <a:lnSpc>
                <a:spcPct val="70000"/>
              </a:lnSpc>
              <a:buNone/>
              <a:tabLst>
                <a:tab pos="0" algn="l"/>
              </a:tabLst>
            </a:pPr>
            <a:r>
              <a:rPr lang="en-US" sz="3100" b="0" u="none" strike="noStrike" dirty="0">
                <a:solidFill>
                  <a:schemeClr val="dk1"/>
                </a:solidFill>
                <a:effectLst/>
                <a:uFillTx/>
                <a:latin typeface="Bricolage Grotesque Medium"/>
                <a:ea typeface="Bricolage Grotesque Medium"/>
              </a:rPr>
              <a:t> Topic</a:t>
            </a:r>
            <a:endParaRPr lang="fr-FR" sz="31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lnSpcReduction="9999"/>
          </a:bodyPr>
          <a:lstStyle/>
          <a:p>
            <a:pPr>
              <a:lnSpc>
                <a:spcPct val="150000"/>
              </a:lnSpc>
              <a:tabLst>
                <a:tab pos="0" algn="l"/>
              </a:tabLst>
            </a:pPr>
            <a:r>
              <a:rPr lang="en-US" sz="1200" b="0" u="none" strike="noStrike">
                <a:solidFill>
                  <a:schemeClr val="dk1"/>
                </a:solidFill>
                <a:effectLst/>
                <a:uFillTx/>
                <a:latin typeface="Anaheim"/>
                <a:ea typeface="Anaheim"/>
              </a:rPr>
              <a:t>Financial mismanagement affects many individuals, leading to stress and debt. Traditional tracking methods lack real-time insights and visual clarity. MoneyMate addresses these issues by providing an accessible tool for tracking finances that protects user privacy and offers actionable information for better financial decisions.</a:t>
            </a:r>
            <a:endParaRPr lang="en-US" sz="1200" b="0" u="none" strike="noStrike">
              <a:solidFill>
                <a:srgbClr val="FFFFFF"/>
              </a:solidFill>
              <a:effectLst/>
              <a:uFillTx/>
              <a:latin typeface="OpenSymbol"/>
            </a:endParaRPr>
          </a:p>
        </p:txBody>
      </p:sp>
      <p:sp>
        <p:nvSpPr>
          <p:cNvPr id="71"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Overview and</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Importance</a:t>
            </a:r>
            <a:endParaRPr lang="fr-FR" sz="3100" b="0" u="none" strike="noStrike">
              <a:solidFill>
                <a:schemeClr val="dk1"/>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lnSpcReduction="9999"/>
          </a:bodyPr>
          <a:lstStyle/>
          <a:p>
            <a:pPr>
              <a:lnSpc>
                <a:spcPct val="150000"/>
              </a:lnSpc>
              <a:tabLst>
                <a:tab pos="0" algn="l"/>
              </a:tabLst>
            </a:pPr>
            <a:r>
              <a:rPr lang="en-US" sz="1200" b="0" u="none" strike="noStrike">
                <a:solidFill>
                  <a:schemeClr val="dk1"/>
                </a:solidFill>
                <a:effectLst/>
                <a:uFillTx/>
                <a:latin typeface="Anaheim"/>
                <a:ea typeface="Anaheim"/>
              </a:rPr>
              <a:t>MoneyMate integrates income and expense tracking, budget management, and savings goal monitoring. It uses categorizations and visual progress indicators to promote financial awareness and discipline. The system follows MVC architecture and employs Flask and SQLAlchemy ORM for scalability and maintainability.</a:t>
            </a:r>
            <a:endParaRPr lang="en-US" sz="1200" b="0" u="none" strike="noStrike">
              <a:solidFill>
                <a:srgbClr val="FFFFFF"/>
              </a:solidFill>
              <a:effectLst/>
              <a:uFillTx/>
              <a:latin typeface="OpenSymbol"/>
            </a:endParaRPr>
          </a:p>
        </p:txBody>
      </p:sp>
      <p:sp>
        <p:nvSpPr>
          <p:cNvPr id="73"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Key Concepts and</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Definitions</a:t>
            </a:r>
            <a:endParaRPr lang="fr-FR" sz="3100" b="0" u="none" strike="noStrike">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75"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Objectives of the</a:t>
            </a:r>
            <a:r>
              <a:rPr lang="en-US" sz="2600" b="1" u="none" strike="noStrike">
                <a:solidFill>
                  <a:schemeClr val="dk1"/>
                </a:solidFill>
                <a:effectLst/>
                <a:uFillTx/>
                <a:latin typeface="Bricolage Grotesque"/>
                <a:ea typeface="Bricolage Grotesque Medium"/>
              </a:rPr>
              <a:t> Presentation</a:t>
            </a:r>
            <a:endParaRPr lang="fr-FR" sz="2600" b="0" u="none" strike="noStrike">
              <a:solidFill>
                <a:schemeClr val="dk1"/>
              </a:solidFill>
              <a:effectLst/>
              <a:uFillTx/>
              <a:latin typeface="Arial"/>
            </a:endParaRPr>
          </a:p>
        </p:txBody>
      </p:sp>
      <p:sp>
        <p:nvSpPr>
          <p:cNvPr id="76" name="PlaceHolder 2"/>
          <p:cNvSpPr>
            <a:spLocks noGrp="1"/>
          </p:cNvSpPr>
          <p:nvPr>
            <p:ph type="subTitle"/>
          </p:nvPr>
        </p:nvSpPr>
        <p:spPr>
          <a:xfrm>
            <a:off x="4619520" y="3209760"/>
            <a:ext cx="4295520" cy="16761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Anaheim"/>
                <a:ea typeface="Anaheim"/>
              </a:rPr>
              <a:t>This presentation aims to cover the core features of MoneyMate, including comprehensive financial tracking, intelligent budget management with real-time alerts, goal-oriented savings with progress visualization, and a visual analytics dashboard. It highlights benefits, design principles, and implementation details.</a:t>
            </a:r>
            <a:endParaRPr lang="en-US" sz="1200" b="0" u="none" strike="noStrike">
              <a:solidFill>
                <a:srgbClr val="FFFFFF"/>
              </a:solidFill>
              <a:effectLst/>
              <a:uFillTx/>
              <a:latin typeface="OpenSymbol"/>
            </a:endParaRPr>
          </a:p>
        </p:txBody>
      </p:sp>
      <p:pic>
        <p:nvPicPr>
          <p:cNvPr id="77"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subTitle"/>
          </p:nvPr>
        </p:nvSpPr>
        <p:spPr>
          <a:xfrm>
            <a:off x="4695840" y="1752480"/>
            <a:ext cx="3847680" cy="1638360"/>
          </a:xfrm>
          <a:prstGeom prst="rect">
            <a:avLst/>
          </a:prstGeom>
          <a:noFill/>
          <a:ln w="0">
            <a:noFill/>
          </a:ln>
        </p:spPr>
        <p:txBody>
          <a:bodyPr lIns="91440" tIns="91440" rIns="91440" bIns="91440" anchor="t">
            <a:spAutoFit/>
          </a:bodyPr>
          <a:lstStyle/>
          <a:p>
            <a:pPr algn="ctr"/>
            <a:endParaRPr lang="en-US" sz="1200" b="0" u="none" strike="noStrike">
              <a:solidFill>
                <a:schemeClr val="dk1"/>
              </a:solidFill>
              <a:effectLst/>
              <a:uFillTx/>
              <a:latin typeface="Anaheim"/>
              <a:ea typeface="Anaheim"/>
            </a:endParaRPr>
          </a:p>
        </p:txBody>
      </p:sp>
      <p:sp>
        <p:nvSpPr>
          <p:cNvPr id="79"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Core</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Principles</a:t>
            </a:r>
            <a:endParaRPr lang="fr-FR" sz="31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a:bodyPr>
          <a:lstStyle/>
          <a:p>
            <a:pPr>
              <a:lnSpc>
                <a:spcPct val="150000"/>
              </a:lnSpc>
              <a:tabLst>
                <a:tab pos="0" algn="l"/>
              </a:tabLst>
            </a:pPr>
            <a:r>
              <a:rPr lang="en-US" sz="1200" b="0" u="none" strike="noStrike">
                <a:solidFill>
                  <a:schemeClr val="dk1"/>
                </a:solidFill>
                <a:effectLst/>
                <a:uFillTx/>
                <a:latin typeface="Anaheim"/>
                <a:ea typeface="Anaheim"/>
              </a:rPr>
              <a:t>MoneyMate is built on principles of data privacy, modular web architecture, and financial psychology. It applies proven methodologies for tracking expenses and income, calculating budget utilization, and visualizing savings goals to motivate users and encourage consistent financial habits.</a:t>
            </a:r>
            <a:endParaRPr lang="en-US" sz="1200" b="0" u="none" strike="noStrike">
              <a:solidFill>
                <a:srgbClr val="FFFFFF"/>
              </a:solidFill>
              <a:effectLst/>
              <a:uFillTx/>
              <a:latin typeface="OpenSymbol"/>
            </a:endParaRPr>
          </a:p>
        </p:txBody>
      </p:sp>
      <p:sp>
        <p:nvSpPr>
          <p:cNvPr id="81"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Fundamental Theories and</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Models</a:t>
            </a:r>
            <a:endParaRPr lang="fr-FR" sz="3100" b="0" u="none" strike="noStrike">
              <a:solidFill>
                <a:schemeClr val="dk1"/>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lnSpcReduction="9999"/>
          </a:bodyPr>
          <a:lstStyle/>
          <a:p>
            <a:pPr>
              <a:lnSpc>
                <a:spcPct val="150000"/>
              </a:lnSpc>
              <a:tabLst>
                <a:tab pos="0" algn="l"/>
              </a:tabLst>
            </a:pPr>
            <a:r>
              <a:rPr lang="en-US" sz="1200" b="0" u="none" strike="noStrike">
                <a:solidFill>
                  <a:schemeClr val="dk1"/>
                </a:solidFill>
                <a:effectLst/>
                <a:uFillTx/>
                <a:latin typeface="Anaheim"/>
                <a:ea typeface="Anaheim"/>
              </a:rPr>
              <a:t>The application supports multiple income sources and expense categories, providing automatic monthly summary calculations and category-wise breakdowns. It offers dynamic budget adjustments and savings goal tracking with progress bars, facilitating actionable insights for users to manage their finances effectively.</a:t>
            </a:r>
            <a:endParaRPr lang="en-US" sz="1200" b="0" u="none" strike="noStrike">
              <a:solidFill>
                <a:srgbClr val="FFFFFF"/>
              </a:solidFill>
              <a:effectLst/>
              <a:uFillTx/>
              <a:latin typeface="OpenSymbol"/>
            </a:endParaRPr>
          </a:p>
        </p:txBody>
      </p:sp>
      <p:sp>
        <p:nvSpPr>
          <p:cNvPr id="83"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Practical</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Applications</a:t>
            </a:r>
            <a:endParaRPr lang="fr-FR" sz="3100" b="0" u="none" strike="noStrike">
              <a:solidFill>
                <a:schemeClr val="dk1"/>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85"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Case Studies and</a:t>
            </a:r>
            <a:r>
              <a:rPr lang="en-US" sz="2600" b="1" u="none" strike="noStrike">
                <a:solidFill>
                  <a:schemeClr val="dk1"/>
                </a:solidFill>
                <a:effectLst/>
                <a:uFillTx/>
                <a:latin typeface="Bricolage Grotesque"/>
                <a:ea typeface="Bricolage Grotesque Medium"/>
              </a:rPr>
              <a:t> Examples</a:t>
            </a:r>
            <a:endParaRPr lang="fr-FR" sz="2600" b="0" u="none" strike="noStrike">
              <a:solidFill>
                <a:schemeClr val="dk1"/>
              </a:solidFill>
              <a:effectLst/>
              <a:uFillTx/>
              <a:latin typeface="Arial"/>
            </a:endParaRPr>
          </a:p>
        </p:txBody>
      </p:sp>
      <p:sp>
        <p:nvSpPr>
          <p:cNvPr id="86" name="PlaceHolder 2"/>
          <p:cNvSpPr>
            <a:spLocks noGrp="1"/>
          </p:cNvSpPr>
          <p:nvPr>
            <p:ph type="subTitle"/>
          </p:nvPr>
        </p:nvSpPr>
        <p:spPr>
          <a:xfrm>
            <a:off x="4619520" y="3209760"/>
            <a:ext cx="4295520" cy="1676160"/>
          </a:xfrm>
          <a:prstGeom prst="rect">
            <a:avLst/>
          </a:prstGeom>
          <a:noFill/>
          <a:ln w="0">
            <a:noFill/>
          </a:ln>
        </p:spPr>
        <p:txBody>
          <a:bodyPr lIns="91440" tIns="91440" rIns="91440" bIns="91440" anchor="t">
            <a:normAutofit fontScale="85000" lnSpcReduction="9999"/>
          </a:bodyPr>
          <a:lstStyle/>
          <a:p>
            <a:pPr indent="0">
              <a:lnSpc>
                <a:spcPct val="150000"/>
              </a:lnSpc>
              <a:buNone/>
              <a:tabLst>
                <a:tab pos="0" algn="l"/>
              </a:tabLst>
            </a:pPr>
            <a:r>
              <a:rPr lang="en-US" sz="1200" b="0" u="none" strike="noStrike">
                <a:solidFill>
                  <a:schemeClr val="dk1"/>
                </a:solidFill>
                <a:effectLst/>
                <a:uFillTx/>
                <a:latin typeface="Anaheim"/>
                <a:ea typeface="Anaheim"/>
              </a:rPr>
              <a:t>MoneyMate has been effectively utilized to manage personal finances, demonstrating significant improvements in spending control and savings discipline. Real-world examples show users managing multiple income sources, tracking expenses categorically, and achieving savings goals with visual feedback. The systems user-friendly interface and data privacy have encouraged consistent use and financial awareness among diverse users.</a:t>
            </a:r>
            <a:endParaRPr lang="en-US" sz="1200" b="0" u="none" strike="noStrike">
              <a:solidFill>
                <a:srgbClr val="FFFFFF"/>
              </a:solidFill>
              <a:effectLst/>
              <a:uFillTx/>
              <a:latin typeface="OpenSymbol"/>
            </a:endParaRPr>
          </a:p>
        </p:txBody>
      </p:sp>
      <p:pic>
        <p:nvPicPr>
          <p:cNvPr id="87"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subTitle"/>
          </p:nvPr>
        </p:nvSpPr>
        <p:spPr>
          <a:xfrm>
            <a:off x="4695840" y="1752480"/>
            <a:ext cx="3847680" cy="1638360"/>
          </a:xfrm>
          <a:prstGeom prst="rect">
            <a:avLst/>
          </a:prstGeom>
          <a:noFill/>
          <a:ln w="0">
            <a:noFill/>
          </a:ln>
        </p:spPr>
        <p:txBody>
          <a:bodyPr lIns="91440" tIns="91440" rIns="91440" bIns="91440" anchor="t">
            <a:spAutoFit/>
          </a:bodyPr>
          <a:lstStyle/>
          <a:p>
            <a:pPr algn="ctr"/>
            <a:endParaRPr lang="en-US" sz="1200" b="0" u="none" strike="noStrike">
              <a:solidFill>
                <a:schemeClr val="dk1"/>
              </a:solidFill>
              <a:effectLst/>
              <a:uFillTx/>
              <a:latin typeface="Anaheim"/>
              <a:ea typeface="Anaheim"/>
            </a:endParaRPr>
          </a:p>
        </p:txBody>
      </p:sp>
      <p:sp>
        <p:nvSpPr>
          <p:cNvPr id="89"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Implementation</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Strategies</a:t>
            </a:r>
            <a:endParaRPr lang="fr-FR" sz="3100" b="0" u="none" strike="noStrike">
              <a:solidFill>
                <a:schemeClr val="dk1"/>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lnSpcReduction="9999"/>
          </a:bodyPr>
          <a:lstStyle/>
          <a:p>
            <a:pPr>
              <a:lnSpc>
                <a:spcPct val="150000"/>
              </a:lnSpc>
              <a:tabLst>
                <a:tab pos="0" algn="l"/>
              </a:tabLst>
            </a:pPr>
            <a:r>
              <a:rPr lang="en-US" sz="1200" b="0" u="none" strike="noStrike">
                <a:solidFill>
                  <a:schemeClr val="dk1"/>
                </a:solidFill>
                <a:effectLst/>
                <a:uFillTx/>
                <a:latin typeface="Anaheim"/>
                <a:ea typeface="Anaheim"/>
              </a:rPr>
              <a:t>Development follows an iterative, modular strategy that starts with requirement analysis, design, and architecture planning. Each module, such as expenses, income, budget, and goals, is implemented independently and tested continuously. Final integration ensures seamless functionality and extensibility of the system for future enhancements.</a:t>
            </a:r>
            <a:endParaRPr lang="en-US" sz="1200" b="0" u="none" strike="noStrike">
              <a:solidFill>
                <a:srgbClr val="FFFFFF"/>
              </a:solidFill>
              <a:effectLst/>
              <a:uFillTx/>
              <a:latin typeface="OpenSymbol"/>
            </a:endParaRPr>
          </a:p>
        </p:txBody>
      </p:sp>
      <p:sp>
        <p:nvSpPr>
          <p:cNvPr id="91"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Step-by-Step</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Approach</a:t>
            </a:r>
            <a:endParaRPr lang="fr-FR" sz="3100" b="0" u="none" strike="noStrike">
              <a:solidFill>
                <a:schemeClr val="dk1"/>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93"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Tools and</a:t>
            </a:r>
            <a:r>
              <a:rPr lang="en-US" sz="2600" b="1" u="none" strike="noStrike">
                <a:solidFill>
                  <a:schemeClr val="dk1"/>
                </a:solidFill>
                <a:effectLst/>
                <a:uFillTx/>
                <a:latin typeface="Bricolage Grotesque"/>
                <a:ea typeface="Bricolage Grotesque Medium"/>
              </a:rPr>
              <a:t> Resources</a:t>
            </a:r>
            <a:endParaRPr lang="fr-FR" sz="2600" b="0" u="none" strike="noStrike">
              <a:solidFill>
                <a:schemeClr val="dk1"/>
              </a:solidFill>
              <a:effectLst/>
              <a:uFillTx/>
              <a:latin typeface="Arial"/>
            </a:endParaRPr>
          </a:p>
        </p:txBody>
      </p:sp>
      <p:sp>
        <p:nvSpPr>
          <p:cNvPr id="94" name="PlaceHolder 2"/>
          <p:cNvSpPr>
            <a:spLocks noGrp="1"/>
          </p:cNvSpPr>
          <p:nvPr>
            <p:ph type="subTitle"/>
          </p:nvPr>
        </p:nvSpPr>
        <p:spPr>
          <a:xfrm>
            <a:off x="4619520" y="3209760"/>
            <a:ext cx="4295520" cy="1676160"/>
          </a:xfrm>
          <a:prstGeom prst="rect">
            <a:avLst/>
          </a:prstGeom>
          <a:noFill/>
          <a:ln w="0">
            <a:noFill/>
          </a:ln>
        </p:spPr>
        <p:txBody>
          <a:bodyPr lIns="91440" tIns="91440" rIns="91440" bIns="91440" anchor="t">
            <a:normAutofit fontScale="92500"/>
          </a:bodyPr>
          <a:lstStyle/>
          <a:p>
            <a:pPr indent="0">
              <a:lnSpc>
                <a:spcPct val="150000"/>
              </a:lnSpc>
              <a:buNone/>
              <a:tabLst>
                <a:tab pos="0" algn="l"/>
              </a:tabLst>
            </a:pPr>
            <a:r>
              <a:rPr lang="en-US" sz="1200" b="0" u="none" strike="noStrike">
                <a:solidFill>
                  <a:schemeClr val="dk1"/>
                </a:solidFill>
                <a:effectLst/>
                <a:uFillTx/>
                <a:latin typeface="Anaheim"/>
                <a:ea typeface="Anaheim"/>
              </a:rPr>
              <a:t>Key technologies include Flask 2.3.0 for backend, Python 3.9+ programming language, SQLAlchemy 2.0 ORM with SQLite database, and frontend tools like HTML5, CSS3, and JavaScript. Development leverages Visual Studio Code, Git for version control, pip for package management, and SQLite browsers for database inspection.</a:t>
            </a:r>
            <a:endParaRPr lang="en-US" sz="1200" b="0" u="none" strike="noStrike">
              <a:solidFill>
                <a:srgbClr val="FFFFFF"/>
              </a:solidFill>
              <a:effectLst/>
              <a:uFillTx/>
              <a:latin typeface="OpenSymbol"/>
            </a:endParaRPr>
          </a:p>
        </p:txBody>
      </p:sp>
      <p:pic>
        <p:nvPicPr>
          <p:cNvPr id="95"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lnSpcReduction="9999"/>
          </a:bodyPr>
          <a:lstStyle/>
          <a:p>
            <a:pPr>
              <a:lnSpc>
                <a:spcPct val="150000"/>
              </a:lnSpc>
              <a:tabLst>
                <a:tab pos="0" algn="l"/>
              </a:tabLst>
            </a:pPr>
            <a:r>
              <a:rPr lang="en-US" sz="1200" b="0" u="none" strike="noStrike">
                <a:solidFill>
                  <a:schemeClr val="dk1"/>
                </a:solidFill>
                <a:effectLst/>
                <a:uFillTx/>
                <a:latin typeface="Anaheim"/>
                <a:ea typeface="Anaheim"/>
              </a:rPr>
              <a:t>Maintain a clear separation of concerns through MVC architecture, adopt comprehensive testing (unit, integration, functional), ensure data validation and security, and provide intuitive user interfaces. Regular feedback and iteration improve usability and performance. Prioritize privacy and modular design to support scalability.</a:t>
            </a:r>
            <a:endParaRPr lang="en-US" sz="1200" b="0" u="none" strike="noStrike">
              <a:solidFill>
                <a:srgbClr val="FFFFFF"/>
              </a:solidFill>
              <a:effectLst/>
              <a:uFillTx/>
              <a:latin typeface="OpenSymbol"/>
            </a:endParaRPr>
          </a:p>
        </p:txBody>
      </p:sp>
      <p:sp>
        <p:nvSpPr>
          <p:cNvPr id="97"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Best Practices for</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Success</a:t>
            </a:r>
            <a:endParaRPr lang="fr-FR" sz="3100" b="0" u="none" strike="noStrike">
              <a:solidFill>
                <a:schemeClr val="dk1"/>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subTitle"/>
          </p:nvPr>
        </p:nvSpPr>
        <p:spPr>
          <a:xfrm>
            <a:off x="4695840" y="1752480"/>
            <a:ext cx="3847680" cy="1638360"/>
          </a:xfrm>
          <a:prstGeom prst="rect">
            <a:avLst/>
          </a:prstGeom>
          <a:noFill/>
          <a:ln w="0">
            <a:noFill/>
          </a:ln>
        </p:spPr>
        <p:txBody>
          <a:bodyPr lIns="91440" tIns="91440" rIns="91440" bIns="91440" anchor="t">
            <a:spAutoFit/>
          </a:bodyPr>
          <a:lstStyle/>
          <a:p>
            <a:pPr algn="ctr"/>
            <a:endParaRPr lang="en-US" sz="1200" b="0" u="none" strike="noStrike">
              <a:solidFill>
                <a:schemeClr val="dk1"/>
              </a:solidFill>
              <a:effectLst/>
              <a:uFillTx/>
              <a:latin typeface="Anaheim"/>
              <a:ea typeface="Anaheim"/>
            </a:endParaRPr>
          </a:p>
        </p:txBody>
      </p:sp>
      <p:sp>
        <p:nvSpPr>
          <p:cNvPr id="99"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Challenges and</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Solutions</a:t>
            </a:r>
            <a:endParaRPr lang="fr-FR" sz="3100" b="0" u="none" strike="noStrike">
              <a:solidFill>
                <a:schemeClr val="dk1"/>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a:bodyPr>
          <a:lstStyle/>
          <a:p>
            <a:pPr>
              <a:lnSpc>
                <a:spcPct val="150000"/>
              </a:lnSpc>
              <a:tabLst>
                <a:tab pos="0" algn="l"/>
              </a:tabLst>
            </a:pPr>
            <a:r>
              <a:rPr lang="en-US" sz="1200" b="0" u="none" strike="noStrike">
                <a:solidFill>
                  <a:schemeClr val="dk1"/>
                </a:solidFill>
                <a:effectLst/>
                <a:uFillTx/>
                <a:latin typeface="Anaheim"/>
                <a:ea typeface="Anaheim"/>
              </a:rPr>
              <a:t>Key challenges include lack of user authentication, limited mobile responsiveness, absence of advanced analytics, and no automated backup or multi-currency support. Potential data entry burdens arise from manual recurring transaction input, and alert systems for budgets and bills are missing.</a:t>
            </a:r>
            <a:endParaRPr lang="en-US" sz="1200" b="0" u="none" strike="noStrike">
              <a:solidFill>
                <a:srgbClr val="FFFFFF"/>
              </a:solidFill>
              <a:effectLst/>
              <a:uFillTx/>
              <a:latin typeface="OpenSymbol"/>
            </a:endParaRPr>
          </a:p>
        </p:txBody>
      </p:sp>
      <p:sp>
        <p:nvSpPr>
          <p:cNvPr id="101"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Common</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Obstacles</a:t>
            </a:r>
            <a:endParaRPr lang="fr-FR" sz="3100" b="0" u="none" strike="noStrike">
              <a:solidFill>
                <a:schemeClr val="dk1"/>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103"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Problem-Solving</a:t>
            </a:r>
            <a:r>
              <a:rPr lang="en-US" sz="2600" b="1" u="none" strike="noStrike">
                <a:solidFill>
                  <a:schemeClr val="dk1"/>
                </a:solidFill>
                <a:effectLst/>
                <a:uFillTx/>
                <a:latin typeface="Bricolage Grotesque"/>
                <a:ea typeface="Bricolage Grotesque Medium"/>
              </a:rPr>
              <a:t> Techniques</a:t>
            </a:r>
            <a:endParaRPr lang="fr-FR" sz="2600" b="0" u="none" strike="noStrike">
              <a:solidFill>
                <a:schemeClr val="dk1"/>
              </a:solidFill>
              <a:effectLst/>
              <a:uFillTx/>
              <a:latin typeface="Arial"/>
            </a:endParaRPr>
          </a:p>
        </p:txBody>
      </p:sp>
      <p:sp>
        <p:nvSpPr>
          <p:cNvPr id="104" name="PlaceHolder 2"/>
          <p:cNvSpPr>
            <a:spLocks noGrp="1"/>
          </p:cNvSpPr>
          <p:nvPr>
            <p:ph type="subTitle"/>
          </p:nvPr>
        </p:nvSpPr>
        <p:spPr>
          <a:xfrm>
            <a:off x="4619520" y="3209760"/>
            <a:ext cx="4295520" cy="16761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Anaheim"/>
                <a:ea typeface="Anaheim"/>
              </a:rPr>
              <a:t>Address limitations by incremental implementation of authentication, responsive design, notification systems, and data export features. Use modular design for scalable improvements, apply thorough testing, and strengthen security measures such as input sanitization and rate limiting to ensure robust performance.</a:t>
            </a:r>
            <a:endParaRPr lang="en-US" sz="1200" b="0" u="none" strike="noStrike">
              <a:solidFill>
                <a:srgbClr val="FFFFFF"/>
              </a:solidFill>
              <a:effectLst/>
              <a:uFillTx/>
              <a:latin typeface="OpenSymbol"/>
            </a:endParaRPr>
          </a:p>
        </p:txBody>
      </p:sp>
      <p:pic>
        <p:nvPicPr>
          <p:cNvPr id="105"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subTitle"/>
          </p:nvPr>
        </p:nvSpPr>
        <p:spPr>
          <a:xfrm>
            <a:off x="4695840" y="1752480"/>
            <a:ext cx="3847680" cy="1638000"/>
          </a:xfrm>
          <a:prstGeom prst="rect">
            <a:avLst/>
          </a:prstGeom>
          <a:noFill/>
          <a:ln w="0">
            <a:noFill/>
          </a:ln>
        </p:spPr>
        <p:txBody>
          <a:bodyPr lIns="91440" tIns="91440" rIns="91440" bIns="91440" anchor="t">
            <a:normAutofit fontScale="92500" lnSpcReduction="9999"/>
          </a:bodyPr>
          <a:lstStyle/>
          <a:p>
            <a:pPr>
              <a:lnSpc>
                <a:spcPct val="150000"/>
              </a:lnSpc>
              <a:tabLst>
                <a:tab pos="0" algn="l"/>
              </a:tabLst>
            </a:pPr>
            <a:r>
              <a:rPr lang="en-US" sz="1200" b="0" u="none" strike="noStrike">
                <a:solidFill>
                  <a:schemeClr val="dk1"/>
                </a:solidFill>
                <a:effectLst/>
                <a:uFillTx/>
                <a:latin typeface="Anaheim"/>
                <a:ea typeface="Anaheim"/>
              </a:rPr>
              <a:t>Plan to incorporate AI-powered financial assistants with personalized advice, predictive analytics for spending forecasts, anomaly detection, investment tracking, and bank API integrations. Community features like budget template libraries, demographic spend comparisons, and financial education resources will enrich user experience.</a:t>
            </a:r>
            <a:endParaRPr lang="en-US" sz="1200" b="0" u="none" strike="noStrike">
              <a:solidFill>
                <a:srgbClr val="FFFFFF"/>
              </a:solidFill>
              <a:effectLst/>
              <a:uFillTx/>
              <a:latin typeface="OpenSymbol"/>
            </a:endParaRPr>
          </a:p>
        </p:txBody>
      </p:sp>
      <p:sp>
        <p:nvSpPr>
          <p:cNvPr id="107" name="PlaceHolder 2"/>
          <p:cNvSpPr>
            <a:spLocks noGrp="1"/>
          </p:cNvSpPr>
          <p:nvPr>
            <p:ph type="title"/>
          </p:nvPr>
        </p:nvSpPr>
        <p:spPr>
          <a:xfrm>
            <a:off x="600120" y="1333440"/>
            <a:ext cx="3590640" cy="247608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Future Trends and</a:t>
            </a:r>
            <a:endParaRPr lang="fr-FR" sz="3100" b="0" u="none" strike="noStrike">
              <a:solidFill>
                <a:schemeClr val="dk1"/>
              </a:solidFill>
              <a:effectLst/>
              <a:uFillTx/>
              <a:latin typeface="Arial"/>
            </a:endParaRPr>
          </a:p>
          <a:p>
            <a:pPr indent="0">
              <a:lnSpc>
                <a:spcPct val="70000"/>
              </a:lnSpc>
              <a:buNone/>
              <a:tabLst>
                <a:tab pos="0" algn="l"/>
              </a:tabLst>
            </a:pPr>
            <a:r>
              <a:rPr lang="en-US" sz="3100" b="0" u="none" strike="noStrike">
                <a:solidFill>
                  <a:schemeClr val="dk1"/>
                </a:solidFill>
                <a:effectLst/>
                <a:uFillTx/>
                <a:latin typeface="Bricolage Grotesque Medium"/>
                <a:ea typeface="Bricolage Grotesque Medium"/>
              </a:rPr>
              <a:t> Innovations</a:t>
            </a:r>
            <a:endParaRPr lang="fr-FR" sz="3100" b="0" u="none" strike="noStrike">
              <a:solidFill>
                <a:schemeClr val="dk1"/>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Google Shape;220;p31"/>
          <p:cNvSpPr/>
          <p:nvPr/>
        </p:nvSpPr>
        <p:spPr>
          <a:xfrm>
            <a:off x="7020000" y="-2876400"/>
            <a:ext cx="4762080" cy="4762080"/>
          </a:xfrm>
          <a:prstGeom prst="rect">
            <a:avLst/>
          </a:prstGeom>
          <a:noFill/>
          <a:ln w="0">
            <a:noFill/>
          </a:ln>
        </p:spPr>
        <p:style>
          <a:lnRef idx="0">
            <a:scrgbClr r="0" g="0" b="0"/>
          </a:lnRef>
          <a:fillRef idx="0">
            <a:scrgbClr r="0" g="0" b="0"/>
          </a:fillRef>
          <a:effectRef idx="0">
            <a:scrgbClr r="0" g="0" b="0"/>
          </a:effectRef>
          <a:fontRef idx="minor"/>
        </p:style>
        <p:txBody>
          <a:bodyPr lIns="870823080" tIns="2381040" rIns="870823080" bIns="2381040" anchor="t">
            <a:spAutoFit/>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
        <p:nvSpPr>
          <p:cNvPr id="109" name="PlaceHolder 1"/>
          <p:cNvSpPr>
            <a:spLocks noGrp="1"/>
          </p:cNvSpPr>
          <p:nvPr>
            <p:ph type="title"/>
          </p:nvPr>
        </p:nvSpPr>
        <p:spPr>
          <a:xfrm>
            <a:off x="4629240" y="228600"/>
            <a:ext cx="390492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Bricolage Grotesque Medium"/>
                <a:ea typeface="Bricolage Grotesque Medium"/>
              </a:rPr>
              <a:t>Conclusions</a:t>
            </a:r>
            <a:endParaRPr lang="fr-FR" sz="2600" b="0" u="none" strike="noStrike">
              <a:solidFill>
                <a:schemeClr val="dk1"/>
              </a:solidFill>
              <a:effectLst/>
              <a:uFillTx/>
              <a:latin typeface="Arial"/>
            </a:endParaRPr>
          </a:p>
        </p:txBody>
      </p:sp>
      <p:sp>
        <p:nvSpPr>
          <p:cNvPr id="110" name="PlaceHolder 2"/>
          <p:cNvSpPr>
            <a:spLocks noGrp="1"/>
          </p:cNvSpPr>
          <p:nvPr>
            <p:ph type="subTitle"/>
          </p:nvPr>
        </p:nvSpPr>
        <p:spPr>
          <a:xfrm>
            <a:off x="4619520" y="3209760"/>
            <a:ext cx="4295520" cy="167616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a:solidFill>
                  <a:schemeClr val="dk1"/>
                </a:solidFill>
                <a:effectLst/>
                <a:uFillTx/>
                <a:latin typeface="Anaheim"/>
                <a:ea typeface="Anaheim"/>
              </a:rPr>
              <a:t>MoneyMate demonstrates the viability of privacy-focused, open-source personal finance management. It successfully fulfills objectives of tracking, budgeting, savings goal monitoring, and visual analytics with high accuracy and usability. Future enhancements will transition the tool into an intelligent, comprehensive financial companion, empowering users to gain better control over their financial well-being.</a:t>
            </a:r>
            <a:endParaRPr lang="en-US" sz="1200" b="0" u="none" strike="noStrike">
              <a:solidFill>
                <a:srgbClr val="FFFFFF"/>
              </a:solidFill>
              <a:effectLst/>
              <a:uFillTx/>
              <a:latin typeface="OpenSymbol"/>
            </a:endParaRPr>
          </a:p>
        </p:txBody>
      </p:sp>
      <p:pic>
        <p:nvPicPr>
          <p:cNvPr id="111" name="Google Shape;223;p31"/>
          <p:cNvPicPr/>
          <p:nvPr/>
        </p:nvPicPr>
        <p:blipFill>
          <a:blip r:embed="rId2"/>
          <a:srcRect t="3418" b="3428"/>
          <a:stretch/>
        </p:blipFill>
        <p:spPr>
          <a:xfrm>
            <a:off x="0" y="0"/>
            <a:ext cx="4294440" cy="5143320"/>
          </a:xfrm>
          <a:prstGeom prst="rect">
            <a:avLst/>
          </a:prstGeom>
          <a:noFill/>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68C72-7F1D-D203-29A7-26E90F446FDA}"/>
            </a:ext>
          </a:extLst>
        </p:cNvPr>
        <p:cNvGrpSpPr/>
        <p:nvPr/>
      </p:nvGrpSpPr>
      <p:grpSpPr>
        <a:xfrm>
          <a:off x="0" y="0"/>
          <a:ext cx="0" cy="0"/>
          <a:chOff x="0" y="0"/>
          <a:chExt cx="0" cy="0"/>
        </a:xfrm>
      </p:grpSpPr>
      <p:sp>
        <p:nvSpPr>
          <p:cNvPr id="107" name="PlaceHolder 2">
            <a:extLst>
              <a:ext uri="{FF2B5EF4-FFF2-40B4-BE49-F238E27FC236}">
                <a16:creationId xmlns:a16="http://schemas.microsoft.com/office/drawing/2014/main" id="{16983EC6-3574-CF64-9B1A-E7D2D0D2C5DB}"/>
              </a:ext>
            </a:extLst>
          </p:cNvPr>
          <p:cNvSpPr>
            <a:spLocks noGrp="1"/>
          </p:cNvSpPr>
          <p:nvPr>
            <p:ph type="title"/>
          </p:nvPr>
        </p:nvSpPr>
        <p:spPr>
          <a:xfrm>
            <a:off x="5284922" y="1177871"/>
            <a:ext cx="3030402" cy="2631649"/>
          </a:xfrm>
          <a:prstGeom prst="rect">
            <a:avLst/>
          </a:prstGeom>
          <a:noFill/>
          <a:ln w="0">
            <a:noFill/>
          </a:ln>
        </p:spPr>
        <p:txBody>
          <a:bodyPr lIns="91440" tIns="91440" rIns="91440" bIns="91440" anchor="t">
            <a:normAutofit/>
          </a:bodyPr>
          <a:lstStyle/>
          <a:p>
            <a:pPr>
              <a:lnSpc>
                <a:spcPct val="70000"/>
              </a:lnSpc>
              <a:tabLst>
                <a:tab pos="0" algn="l"/>
              </a:tabLst>
            </a:pPr>
            <a:r>
              <a:rPr lang="en" sz="7200" b="0" u="none" strike="noStrike" dirty="0">
                <a:solidFill>
                  <a:schemeClr val="dk1"/>
                </a:solidFill>
                <a:effectLst/>
                <a:uFillTx/>
                <a:latin typeface="Bricolage Grotesque Medium"/>
                <a:ea typeface="Bricolage Grotesque Medium"/>
              </a:rPr>
              <a:t>THANK </a:t>
            </a:r>
            <a:r>
              <a:rPr lang="en" sz="7200" b="1" u="none" strike="noStrike" dirty="0">
                <a:solidFill>
                  <a:schemeClr val="dk1"/>
                </a:solidFill>
                <a:effectLst/>
                <a:uFillTx/>
                <a:latin typeface="Bricolage Grotesque Medium"/>
                <a:ea typeface="Bricolage Grotesque Medium"/>
              </a:rPr>
              <a:t>YOU</a:t>
            </a:r>
            <a:endParaRPr lang="fr-FR" sz="7200" b="0" u="none" strike="noStrike" dirty="0">
              <a:solidFill>
                <a:schemeClr val="dk1"/>
              </a:solidFill>
              <a:effectLst/>
              <a:uFillTx/>
              <a:latin typeface="Arial"/>
            </a:endParaRPr>
          </a:p>
        </p:txBody>
      </p:sp>
      <p:sp>
        <p:nvSpPr>
          <p:cNvPr id="4" name="PlaceHolder 1">
            <a:extLst>
              <a:ext uri="{FF2B5EF4-FFF2-40B4-BE49-F238E27FC236}">
                <a16:creationId xmlns:a16="http://schemas.microsoft.com/office/drawing/2014/main" id="{0A7E4B18-735C-C472-7FD6-8476F303A395}"/>
              </a:ext>
            </a:extLst>
          </p:cNvPr>
          <p:cNvSpPr>
            <a:spLocks noGrp="1"/>
          </p:cNvSpPr>
          <p:nvPr>
            <p:ph type="title"/>
          </p:nvPr>
        </p:nvSpPr>
        <p:spPr>
          <a:xfrm>
            <a:off x="5393411" y="2681206"/>
            <a:ext cx="3254644" cy="1130381"/>
          </a:xfrm>
          <a:prstGeom prst="rect">
            <a:avLst/>
          </a:prstGeom>
          <a:noFill/>
          <a:ln w="0">
            <a:noFill/>
          </a:ln>
        </p:spPr>
        <p:txBody>
          <a:bodyPr lIns="91440" tIns="91440" rIns="91440" bIns="91440" anchor="t">
            <a:normAutofit fontScale="92500"/>
          </a:bodyPr>
          <a:lstStyle/>
          <a:p>
            <a:pPr>
              <a:lnSpc>
                <a:spcPct val="150000"/>
              </a:lnSpc>
              <a:tabLst>
                <a:tab pos="0" algn="l"/>
              </a:tabLst>
            </a:pPr>
            <a:r>
              <a:rPr lang="en" sz="1600" b="1" u="none" strike="noStrike" dirty="0">
                <a:solidFill>
                  <a:schemeClr val="dk1"/>
                </a:solidFill>
                <a:effectLst/>
                <a:uFillTx/>
                <a:latin typeface="Anaheim"/>
                <a:ea typeface="Anaheim"/>
              </a:rPr>
              <a:t>Do you have any questions?</a:t>
            </a:r>
            <a:br>
              <a:rPr lang="en" sz="1600" b="1" u="none" strike="noStrike" dirty="0">
                <a:solidFill>
                  <a:schemeClr val="dk1"/>
                </a:solidFill>
                <a:effectLst/>
                <a:uFillTx/>
                <a:latin typeface="Anaheim"/>
                <a:ea typeface="Anaheim"/>
              </a:rPr>
            </a:br>
            <a:endParaRPr lang="en-US" sz="1600" b="0" u="none" strike="noStrike" dirty="0">
              <a:solidFill>
                <a:srgbClr val="FFFFFF"/>
              </a:solidFill>
              <a:effectLst/>
              <a:uFillTx/>
              <a:latin typeface="OpenSymbol"/>
            </a:endParaRPr>
          </a:p>
        </p:txBody>
      </p:sp>
    </p:spTree>
    <p:extLst>
      <p:ext uri="{BB962C8B-B14F-4D97-AF65-F5344CB8AC3E}">
        <p14:creationId xmlns:p14="http://schemas.microsoft.com/office/powerpoint/2010/main" val="932573487"/>
      </p:ext>
    </p:extLst>
  </p:cSld>
  <p:clrMapOvr>
    <a:masterClrMapping/>
  </p:clrMapOvr>
</p:sld>
</file>

<file path=ppt/theme/theme1.xml><?xml version="1.0" encoding="utf-8"?>
<a:theme xmlns:a="http://schemas.openxmlformats.org/drawingml/2006/main" name="Mind Maps Workshop by Slidesgo">
  <a:themeElements>
    <a:clrScheme name="Simple Light">
      <a:dk1>
        <a:srgbClr val="FFF5EF"/>
      </a:dk1>
      <a:lt1>
        <a:srgbClr val="132933"/>
      </a:lt1>
      <a:dk2>
        <a:srgbClr val="FFF5EF"/>
      </a:dk2>
      <a:lt2>
        <a:srgbClr val="FFF5EF"/>
      </a:lt2>
      <a:accent1>
        <a:srgbClr val="FFFFFF"/>
      </a:accent1>
      <a:accent2>
        <a:srgbClr val="FFFFFF"/>
      </a:accent2>
      <a:accent3>
        <a:srgbClr val="FFFFFF"/>
      </a:accent3>
      <a:accent4>
        <a:srgbClr val="FFFFFF"/>
      </a:accent4>
      <a:accent5>
        <a:srgbClr val="FFFFFF"/>
      </a:accent5>
      <a:accent6>
        <a:srgbClr val="FFFFFF"/>
      </a:accent6>
      <a:hlink>
        <a:srgbClr val="FFF5E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780</Words>
  <Application>Microsoft Office PowerPoint</Application>
  <PresentationFormat>On-screen Show (16:9)</PresentationFormat>
  <Paragraphs>50</Paragraphs>
  <Slides>20</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Anaheim</vt:lpstr>
      <vt:lpstr>Arial</vt:lpstr>
      <vt:lpstr>Bricolage Grotesque</vt:lpstr>
      <vt:lpstr>Bricolage Grotesque Medium</vt:lpstr>
      <vt:lpstr>OpenSymbol</vt:lpstr>
      <vt:lpstr>Symbol</vt:lpstr>
      <vt:lpstr>Wingdings</vt:lpstr>
      <vt:lpstr>Mind Maps Workshop by Slidesgo</vt:lpstr>
      <vt:lpstr>Slidesgo Final Pages</vt:lpstr>
      <vt:lpstr>MoneyMate Overview</vt:lpstr>
      <vt:lpstr>Introduction</vt:lpstr>
      <vt:lpstr>Introduction to the  Topic</vt:lpstr>
      <vt:lpstr>Overview and  Importance</vt:lpstr>
      <vt:lpstr>Key Concepts and  Definitions</vt:lpstr>
      <vt:lpstr>Objectives of the Presentation</vt:lpstr>
      <vt:lpstr>Core  Principles</vt:lpstr>
      <vt:lpstr>Fundamental Theories and  Models</vt:lpstr>
      <vt:lpstr>Practical  Applications</vt:lpstr>
      <vt:lpstr>Case Studies and Examples</vt:lpstr>
      <vt:lpstr>Implementation  Strategies</vt:lpstr>
      <vt:lpstr>Step-by-Step  Approach</vt:lpstr>
      <vt:lpstr>Tools and Resources</vt:lpstr>
      <vt:lpstr>Best Practices for  Success</vt:lpstr>
      <vt:lpstr>Challenges and  Solutions</vt:lpstr>
      <vt:lpstr>Common  Obstacles</vt:lpstr>
      <vt:lpstr>Problem-Solving Techniques</vt:lpstr>
      <vt:lpstr>Future Trends and  Innovations</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Nimisha Madavi</cp:lastModifiedBy>
  <cp:revision>1</cp:revision>
  <dcterms:modified xsi:type="dcterms:W3CDTF">2025-12-30T16:59:48Z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2025-12-30T16:50:13Z</dcterms:created>
  <dc:creator>Unknown Creator</dc:creator>
  <dc:description/>
  <dc:language>en-US</dc:language>
  <cp:lastModifiedBy>Unknown Creator</cp:lastModifiedBy>
  <dcterms:modified xsi:type="dcterms:W3CDTF">2025-12-30T16:50:13Z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20</vt:r8>
  </property>
</Properties>
</file>